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0c4aafa7d4d04" /><Relationship Type="http://schemas.openxmlformats.org/officeDocument/2006/relationships/extended-properties" Target="/docProps/app.xml" Id="R7ca61331c7a24937" /><Relationship Type="http://schemas.openxmlformats.org/officeDocument/2006/relationships/officeDocument" Target="/ppt/presentation.xml" Id="R8dfd9539f56340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b6330068f4115"/>
  </p:sldMasterIdLst>
  <p:notesMasterIdLst>
    <p:notesMasterId xmlns:r="http://schemas.openxmlformats.org/officeDocument/2006/relationships" r:id="Rbd2c151cd4584793"/>
  </p:notesMasterIdLst>
  <p:sldIdLst>
    <p:sldId xmlns:r="http://schemas.openxmlformats.org/officeDocument/2006/relationships" id="256" r:id="R903839499ac84c56"/>
    <p:sldId xmlns:r="http://schemas.openxmlformats.org/officeDocument/2006/relationships" id="257" r:id="R10f1f103bc0c4d44"/>
    <p:sldId xmlns:r="http://schemas.openxmlformats.org/officeDocument/2006/relationships" id="258" r:id="R480029427ab24bc0"/>
    <p:sldId xmlns:r="http://schemas.openxmlformats.org/officeDocument/2006/relationships" id="259" r:id="R64f2a2769e1b4879"/>
    <p:sldId xmlns:r="http://schemas.openxmlformats.org/officeDocument/2006/relationships" id="260" r:id="Rcc24d75964164da3"/>
    <p:sldId xmlns:r="http://schemas.openxmlformats.org/officeDocument/2006/relationships" id="261" r:id="R627deb75a22e4cc5"/>
    <p:sldId xmlns:r="http://schemas.openxmlformats.org/officeDocument/2006/relationships" id="262" r:id="R5bfa1412e7b64b2c"/>
    <p:sldId xmlns:r="http://schemas.openxmlformats.org/officeDocument/2006/relationships" id="263" r:id="R7dc3bf5121a94941"/>
    <p:sldId xmlns:r="http://schemas.openxmlformats.org/officeDocument/2006/relationships" id="264" r:id="R2f225ed398474804"/>
    <p:sldId xmlns:r="http://schemas.openxmlformats.org/officeDocument/2006/relationships" id="265" r:id="R4c8486df96f346d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b6330068f4115" /><Relationship Type="http://schemas.openxmlformats.org/officeDocument/2006/relationships/theme" Target="/ppt/theme/theme1.xml" Id="Rfd3cef8e65874375" /><Relationship Type="http://schemas.openxmlformats.org/officeDocument/2006/relationships/notesMaster" Target="/ppt/notesMasters/notesMaster1.xml" Id="Rbd2c151cd4584793" /><Relationship Type="http://schemas.openxmlformats.org/officeDocument/2006/relationships/presProps" Target="/ppt/presProps.xml" Id="R05176625e6b246c5" /><Relationship Type="http://schemas.openxmlformats.org/officeDocument/2006/relationships/viewProps" Target="/ppt/viewProps.xml" Id="R656ee0d8e3ba4a8a" /><Relationship Type="http://schemas.openxmlformats.org/officeDocument/2006/relationships/tableStyles" Target="/ppt/tableStyles.xml" Id="R7e5e83205fef4ad5" /><Relationship Type="http://schemas.openxmlformats.org/officeDocument/2006/relationships/slide" Target="/ppt/slides/slide1.xml" Id="R903839499ac84c56" /><Relationship Type="http://schemas.openxmlformats.org/officeDocument/2006/relationships/slide" Target="/ppt/slides/slide2.xml" Id="R10f1f103bc0c4d44" /><Relationship Type="http://schemas.openxmlformats.org/officeDocument/2006/relationships/slide" Target="/ppt/slides/slide3.xml" Id="R480029427ab24bc0" /><Relationship Type="http://schemas.openxmlformats.org/officeDocument/2006/relationships/slide" Target="/ppt/slides/slide4.xml" Id="R64f2a2769e1b4879" /><Relationship Type="http://schemas.openxmlformats.org/officeDocument/2006/relationships/slide" Target="/ppt/slides/slide5.xml" Id="Rcc24d75964164da3" /><Relationship Type="http://schemas.openxmlformats.org/officeDocument/2006/relationships/slide" Target="/ppt/slides/slide6.xml" Id="R627deb75a22e4cc5" /><Relationship Type="http://schemas.openxmlformats.org/officeDocument/2006/relationships/slide" Target="/ppt/slides/slide7.xml" Id="R5bfa1412e7b64b2c" /><Relationship Type="http://schemas.openxmlformats.org/officeDocument/2006/relationships/slide" Target="/ppt/slides/slide8.xml" Id="R7dc3bf5121a94941" /><Relationship Type="http://schemas.openxmlformats.org/officeDocument/2006/relationships/slide" Target="/ppt/slides/slide9.xml" Id="R2f225ed398474804" /><Relationship Type="http://schemas.openxmlformats.org/officeDocument/2006/relationships/slide" Target="/ppt/slides/slide10.xml" Id="R4c8486df96f3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90616f8c1a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499bd337d4348" /><Relationship Type="http://schemas.openxmlformats.org/officeDocument/2006/relationships/notesMaster" Target="/ppt/notesMasters/notesMaster1.xml" Id="Rc997a964c7e14c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34f79e4c44f68" /><Relationship Type="http://schemas.openxmlformats.org/officeDocument/2006/relationships/notesMaster" Target="/ppt/notesMasters/notesMaster1.xml" Id="R6c90259dbf57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3cc78a2714986" /><Relationship Type="http://schemas.openxmlformats.org/officeDocument/2006/relationships/notesMaster" Target="/ppt/notesMasters/notesMaster1.xml" Id="R649595dc4024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04029110940f7" /><Relationship Type="http://schemas.openxmlformats.org/officeDocument/2006/relationships/notesMaster" Target="/ppt/notesMasters/notesMaster1.xml" Id="R957c9100cdc6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bc0b22f06f4aa9" /><Relationship Type="http://schemas.openxmlformats.org/officeDocument/2006/relationships/notesMaster" Target="/ppt/notesMasters/notesMaster1.xml" Id="R4e239aaef27f48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5e26e6ba7f47f2" /><Relationship Type="http://schemas.openxmlformats.org/officeDocument/2006/relationships/notesMaster" Target="/ppt/notesMasters/notesMaster1.xml" Id="R8e9d4f2dccba4f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c45e1b30c4b05" /><Relationship Type="http://schemas.openxmlformats.org/officeDocument/2006/relationships/notesMaster" Target="/ppt/notesMasters/notesMaster1.xml" Id="R062b3ce6b4b2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ab418554154e07" /><Relationship Type="http://schemas.openxmlformats.org/officeDocument/2006/relationships/notesMaster" Target="/ppt/notesMasters/notesMaster1.xml" Id="R0b3b56d6246c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2843b8b6e447a7" /><Relationship Type="http://schemas.openxmlformats.org/officeDocument/2006/relationships/notesMaster" Target="/ppt/notesMasters/notesMaster1.xml" Id="R5912740585ac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f1bf13202b4179" /><Relationship Type="http://schemas.openxmlformats.org/officeDocument/2006/relationships/notesMaster" Target="/ppt/notesMasters/notesMaster1.xml" Id="R8cb147fb97ba4f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c9a7baf5f41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9e520eb3a44cd0" /><Relationship Type="http://schemas.openxmlformats.org/officeDocument/2006/relationships/slideLayout" Target="/ppt/slideLayouts/slideLayout2.xml" Id="R6595f852dbeb4a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5f852dbeb4a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ae1be77db487e" /><Relationship Type="http://schemas.openxmlformats.org/officeDocument/2006/relationships/notesSlide" Target="/ppt/notesSlides/notesSlide1.xml" Id="R29af105dc98f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3c06d10784c00" /><Relationship Type="http://schemas.openxmlformats.org/officeDocument/2006/relationships/notesSlide" Target="/ppt/notesSlides/notesSlide2.xml" Id="Re344100f20c246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4a665665d44053" /><Relationship Type="http://schemas.openxmlformats.org/officeDocument/2006/relationships/notesSlide" Target="/ppt/notesSlides/notesSlide3.xml" Id="Re7f3267b4570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9ce2e791143d5" /><Relationship Type="http://schemas.openxmlformats.org/officeDocument/2006/relationships/notesSlide" Target="/ppt/notesSlides/notesSlide4.xml" Id="R9f2b15eb4f89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6430f16cea476b" /><Relationship Type="http://schemas.openxmlformats.org/officeDocument/2006/relationships/notesSlide" Target="/ppt/notesSlides/notesSlide5.xml" Id="R9ac39e23bf1443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45b8f88364763" /><Relationship Type="http://schemas.openxmlformats.org/officeDocument/2006/relationships/chart" Target="/ppt/slides/charts/chart1.xml" Id="R05715df9311e4f73" /><Relationship Type="http://schemas.openxmlformats.org/officeDocument/2006/relationships/notesSlide" Target="/ppt/notesSlides/notesSlide6.xml" Id="R48e69986aa1d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36b9dbe594630" /><Relationship Type="http://schemas.openxmlformats.org/officeDocument/2006/relationships/notesSlide" Target="/ppt/notesSlides/notesSlide7.xml" Id="Rc31b160c509e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2d28cc1cc94eb0" /><Relationship Type="http://schemas.openxmlformats.org/officeDocument/2006/relationships/notesSlide" Target="/ppt/notesSlides/notesSlide8.xml" Id="Rbc265215b21b41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0dc1fe34741d0" /><Relationship Type="http://schemas.openxmlformats.org/officeDocument/2006/relationships/notesSlide" Target="/ppt/notesSlides/notesSlide9.xml" Id="R06d635b94267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84ae20bfcb4082" /><Relationship Type="http://schemas.openxmlformats.org/officeDocument/2006/relationships/notesSlide" Target="/ppt/notesSlides/notesSlide10.xml" Id="R4868266ba9f74ec8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Model importance in the planning workflow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Contribution</c:v>
          </c:tx>
          <c:cat>
            <c:strLit>
              <c:ptCount val="3"/>
              <c:pt idx="0">
                <c:v>Demand forecast</c:v>
              </c:pt>
              <c:pt idx="1">
                <c:v>Stockout risk</c:v>
              </c:pt>
              <c:pt idx="2">
                <c:v>Demand anomaly</c:v>
              </c:pt>
            </c:strLit>
          </c:cat>
          <c:val>
            <c:numLit>
              <c:formatCode/>
              <c:ptCount val="3"/>
              <c:pt idx="0">
                <c:v>90</c:v>
              </c:pt>
              <c:pt idx="1">
                <c:v>82</c:v>
              </c:pt>
              <c:pt idx="2">
                <c:v>68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17CB2B4-5275-4EE9-A63C-F29DD4B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160FA632-3299-43F8-8F3C-9CDA6C37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7402853-88C2-464E-B356-A7C67BA9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40767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A1628"/>
                </a:solidFill>
              </a:defRPr>
            </a:pPr>
            <a:r>
              <a:rPr sz="5250" b="1">
                <a:solidFill>
                  <a:srgbClr val="0A1628"/>
                </a:solidFill>
              </a:rPr>
              <a:t>RetailPulse ML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460AD72-2219-4813-8214-19B417AF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42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5CD3"/>
                </a:solidFill>
              </a:defRPr>
            </a:pPr>
            <a:r>
              <a:rPr sz="2400">
                <a:solidFill>
                  <a:srgbClr val="175CD3"/>
                </a:solidFill>
              </a:rPr>
              <a:t>Containerized Demand Forecasting Platform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C3FC3053-498C-480B-A66D-100EE1F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95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6274"/>
                </a:solidFill>
              </a:defRPr>
            </a:pPr>
            <a:r>
              <a:rPr sz="1800">
                <a:solidFill>
                  <a:srgbClr val="556274"/>
                </a:solidFill>
              </a:rPr>
              <a:t>Easy demo project for predicting retail demand, checking stockout risk, and giving replenishment actions using Docker, machine learning, and agentic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BC6FD-F7E1-4B8D-A556-F974597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3410"/>
            <a:ext cx="9784080" cy="4000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162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1B8BE-BCD3-4FF2-8222-56B5238B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914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What the system 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118AB-F25E-4355-A995-4F92A566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AFE"/>
                </a:solidFill>
              </a:defRPr>
            </a:pPr>
            <a:r>
              <a:rPr sz="1800">
                <a:solidFill>
                  <a:srgbClr val="DBEAFE"/>
                </a:solidFill>
              </a:rPr>
              <a:t>Forecasts 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DB34B-0807-40BC-832F-337EAA9E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AFE"/>
                </a:solidFill>
              </a:defRPr>
            </a:pPr>
            <a:r>
              <a:rPr sz="1800">
                <a:solidFill>
                  <a:srgbClr val="DBEAFE"/>
                </a:solidFill>
              </a:rPr>
              <a:t>Detects unusual sales spikes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DD1EB-33EE-4D35-9104-A40A6E0A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912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AFE"/>
                </a:solidFill>
              </a:defRPr>
            </a:pPr>
            <a:r>
              <a:rPr sz="1800">
                <a:solidFill>
                  <a:srgbClr val="DBEAFE"/>
                </a:solidFill>
              </a:rPr>
              <a:t>Warns about stockout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26DAF-2C44-4C9F-B30D-D0FCD29A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BEAFE"/>
                </a:solidFill>
              </a:defRPr>
            </a:pPr>
            <a:r>
              <a:rPr sz="1800">
                <a:solidFill>
                  <a:srgbClr val="DBEAFE"/>
                </a:solidFill>
              </a:rPr>
              <a:t>Suggests next planner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3DBC0-694D-4922-B529-0A11114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4423410"/>
            <a:ext cx="652272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44679-B76A-42D8-AB25-C1A698F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648200"/>
            <a:ext cx="605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E4244-ACCA-40AD-8ABD-60315BC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953000"/>
            <a:ext cx="6057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5CD3"/>
                </a:solidFill>
              </a:defRPr>
            </a:pPr>
            <a:r>
              <a:rPr sz="2550" b="1">
                <a:solidFill>
                  <a:srgbClr val="175CD3"/>
                </a:solidFill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118E8-8503-4202-8ACF-FC8E7C0A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5814060"/>
            <a:ext cx="652272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A1ED8-F535-4359-B698-42DB8E7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38850"/>
            <a:ext cx="605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ML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F6D3B-1D5B-4DFD-8CF0-0C3B802B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6057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B3A8"/>
                </a:solidFill>
              </a:defRPr>
            </a:pPr>
            <a:r>
              <a:rPr sz="2550" b="1">
                <a:solidFill>
                  <a:srgbClr val="12B3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FADC4-B3F9-4BF6-A513-741ADCE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7204710"/>
            <a:ext cx="652272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0A39E-6B02-4E9A-BBCD-796EFF74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429500"/>
            <a:ext cx="6057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Agent 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02F64-A62C-45E9-936E-7409B49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734300"/>
            <a:ext cx="6057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546"/>
                </a:solidFill>
              </a:defRPr>
            </a:pPr>
            <a:r>
              <a:rPr sz="2550" b="1">
                <a:solidFill>
                  <a:srgbClr val="F5B546"/>
                </a:solidFill>
              </a:rPr>
              <a:t>4</a:t>
            </a:r>
          </a:p>
        </p:txBody>
      </p:sp>
      <p:sp>
        <p:nvSpPr>
          <p:cNvPr id="2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16CEA8C1-9E3B-498D-A1F0-439B053E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8680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Retail demand forecasting project presentation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7AD81069-4496-4D76-8B4D-F31D7C05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6868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066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0F090DC-563D-4E5D-8088-BF6A77CC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22EFE610-079B-46B9-872C-F31347A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FE38B-E5E3-45E7-9BFA-48C4AFB7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3676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Problem Statement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1C8F43-623E-4C66-A61A-E2EE416B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7181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Retailers often lose revenue because they cannot estimate demand at the right time.</a:t>
            </a:r>
          </a:p>
        </p:txBody>
      </p:sp>
      <p:sp>
        <p:nvSpPr>
          <p:cNvPr id="5" name="business-problems">
            <a:extLst xmlns:a="http://schemas.openxmlformats.org/drawingml/2006/main">
              <a:ext uri="{FF2B5EF4-FFF2-40B4-BE49-F238E27FC236}">
                <a16:creationId xmlns:a16="http://schemas.microsoft.com/office/drawing/2014/main" id="{5B289E32-3AD3-4E0A-9C8A-BE28E283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1740"/>
            <a:ext cx="5372100" cy="64770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6F97-1BD9-4550-9AA0-3727194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83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Business Problems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42752F1E-9659-4C3B-BA96-4DBCFB6B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538B3-152C-4A08-9F6B-4BC65FD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Stockouts happen when demand increases suddenly.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444BEF78-7863-4791-9246-530BE16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46548-40B9-45E9-9BD7-F42B5C6E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Extra inventory increases storage and wastage cost.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41105404-1804-4EB6-B59D-7E673B5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9250D-2F3C-4484-9B12-014A8BD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95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Manual planning is slow and error-prone.</a:t>
            </a:r>
          </a:p>
        </p:txBody>
      </p:sp>
      <p:sp>
        <p:nvSpPr>
          <p:cNvPr id="13" name="technical-problems">
            <a:extLst xmlns:a="http://schemas.openxmlformats.org/drawingml/2006/main">
              <a:ext uri="{FF2B5EF4-FFF2-40B4-BE49-F238E27FC236}">
                <a16:creationId xmlns:a16="http://schemas.microsoft.com/office/drawing/2014/main" id="{F22D8FA2-BE30-417E-A7B0-AB5B48F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1740"/>
            <a:ext cx="5372100" cy="64770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DD4D8-8965-4B9B-A2D7-C50B5C2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483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Technical Problems</a:t>
            </a:r>
          </a:p>
        </p:txBody>
      </p:sp>
      <p:sp>
        <p:nvSpPr>
          <p:cNvPr id="15" name="dot-0">
            <a:extLst xmlns:a="http://schemas.openxmlformats.org/drawingml/2006/main">
              <a:ext uri="{FF2B5EF4-FFF2-40B4-BE49-F238E27FC236}">
                <a16:creationId xmlns:a16="http://schemas.microsoft.com/office/drawing/2014/main" id="{C9703B7C-F3F5-4B10-AB31-24EA8A08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91B6F-7592-4BEE-B6B0-0F4E2C81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Sales data is spread across different services.</a:t>
            </a:r>
          </a:p>
        </p:txBody>
      </p:sp>
      <p:sp>
        <p:nvSpPr>
          <p:cNvPr id="17" name="dot-1">
            <a:extLst xmlns:a="http://schemas.openxmlformats.org/drawingml/2006/main">
              <a:ext uri="{FF2B5EF4-FFF2-40B4-BE49-F238E27FC236}">
                <a16:creationId xmlns:a16="http://schemas.microsoft.com/office/drawing/2014/main" id="{31304B30-25DC-4DBB-955C-4C697AB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9D095-702C-4805-8B66-6E583F47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Predictions are not always available in real time.</a:t>
            </a:r>
          </a:p>
        </p:txBody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493498A1-1899-4F55-917C-00FAC00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3A5C6-4846-404E-A9D8-CF15A29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Normal dashboards do not explain what action to take.</a:t>
            </a:r>
          </a:p>
        </p:txBody>
      </p:sp>
      <p:sp>
        <p:nvSpPr>
          <p:cNvPr id="21" name="project-need">
            <a:extLst xmlns:a="http://schemas.openxmlformats.org/drawingml/2006/main">
              <a:ext uri="{FF2B5EF4-FFF2-40B4-BE49-F238E27FC236}">
                <a16:creationId xmlns:a16="http://schemas.microsoft.com/office/drawing/2014/main" id="{FD3F82CC-10A6-4467-A8D7-35CBE4E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491740"/>
            <a:ext cx="5372100" cy="64770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DFF8F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7796C-9D4E-4674-AF22-DBCCE0D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762250"/>
            <a:ext cx="4838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Project Need</a:t>
            </a:r>
          </a:p>
        </p:txBody>
      </p:sp>
      <p:sp>
        <p:nvSpPr>
          <p:cNvPr id="23" name="dot-0">
            <a:extLst xmlns:a="http://schemas.openxmlformats.org/drawingml/2006/main">
              <a:ext uri="{FF2B5EF4-FFF2-40B4-BE49-F238E27FC236}">
                <a16:creationId xmlns:a16="http://schemas.microsoft.com/office/drawing/2014/main" id="{E417509D-DC43-4BFC-B0E6-DC33B394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38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E940F-5AC6-4504-BB14-BE9A788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238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Forecast demand quickly.</a:t>
            </a:r>
          </a:p>
        </p:txBody>
      </p:sp>
      <p:sp>
        <p:nvSpPr>
          <p:cNvPr id="25" name="dot-1">
            <a:extLst xmlns:a="http://schemas.openxmlformats.org/drawingml/2006/main">
              <a:ext uri="{FF2B5EF4-FFF2-40B4-BE49-F238E27FC236}">
                <a16:creationId xmlns:a16="http://schemas.microsoft.com/office/drawing/2014/main" id="{43A9C50E-F837-4767-9C0E-26BCDE23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CFD86-47D6-4A0D-A11A-A83C00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6195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Warn about stock risk early.</a:t>
            </a:r>
          </a:p>
        </p:txBody>
      </p:sp>
      <p:sp>
        <p:nvSpPr>
          <p:cNvPr id="27" name="dot-2">
            <a:extLst xmlns:a="http://schemas.openxmlformats.org/drawingml/2006/main">
              <a:ext uri="{FF2B5EF4-FFF2-40B4-BE49-F238E27FC236}">
                <a16:creationId xmlns:a16="http://schemas.microsoft.com/office/drawing/2014/main" id="{BE9E2FE3-016F-4836-9B51-D2F937B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B52D5-6912-4976-9A5F-7E221BD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0195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Give simple next actions for retail planners.</a:t>
            </a:r>
          </a:p>
        </p:txBody>
      </p:sp>
      <p:sp>
        <p:nvSpPr>
          <p:cNvPr id="29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A1CBC49-62AB-4D60-81C9-05F9C4CC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5830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Slide explains why the project is needed</a:t>
            </a:r>
          </a:p>
        </p:txBody>
      </p:sp>
      <p:sp>
        <p:nvSpPr>
          <p:cNvPr id="30" name="page">
            <a:extLst xmlns:a="http://schemas.openxmlformats.org/drawingml/2006/main">
              <a:ext uri="{FF2B5EF4-FFF2-40B4-BE49-F238E27FC236}">
                <a16:creationId xmlns:a16="http://schemas.microsoft.com/office/drawing/2014/main" id="{CAB1254F-1934-4C4C-AA4B-C7B02BB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92583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5646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932D2F8-608F-4D8A-891D-95BDF8C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117EF065-2C1E-4580-BA0B-15F53AC6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C717DD-A1E5-4B9A-A85A-A5DE889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3848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Objective and Scope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2DF16F-57D2-4399-9699-3393CD6A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794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The project focuses on short-term demand forecasting with a simple retail planning workflow.</a:t>
            </a:r>
          </a:p>
        </p:txBody>
      </p:sp>
      <p:sp>
        <p:nvSpPr>
          <p:cNvPr id="5" name="main-objective">
            <a:extLst xmlns:a="http://schemas.openxmlformats.org/drawingml/2006/main">
              <a:ext uri="{FF2B5EF4-FFF2-40B4-BE49-F238E27FC236}">
                <a16:creationId xmlns:a16="http://schemas.microsoft.com/office/drawing/2014/main" id="{82F5AD70-CE32-4A7C-BF7B-8BA94A14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81534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90C51-E28D-491A-90B8-03DC5AC6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Main Objective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AC6A2276-6CE1-49E2-88F0-61F7FCFB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75EEC-606D-4869-8AB2-90345234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Build a Docker-based retail analytics platform.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F513985C-F704-4A67-81F8-E942C099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70740-43E3-4F8D-8527-EAF4624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Forecast product demand using ML.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AD489C85-4464-4D61-B7B8-D3F2AEF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BE1F4-D1C3-4C7D-86D7-E86DD869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Check anomaly and stockout conditions.</a:t>
            </a:r>
          </a:p>
        </p:txBody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2F364B5A-BEF5-49A6-9771-1A3CD07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98F0D-C66D-45B5-A953-2529FF8E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Support planners with easy recommendations.</a:t>
            </a:r>
          </a:p>
        </p:txBody>
      </p:sp>
      <p:sp>
        <p:nvSpPr>
          <p:cNvPr id="15" name="scope-of-the-project">
            <a:extLst xmlns:a="http://schemas.openxmlformats.org/drawingml/2006/main">
              <a:ext uri="{FF2B5EF4-FFF2-40B4-BE49-F238E27FC236}">
                <a16:creationId xmlns:a16="http://schemas.microsoft.com/office/drawing/2014/main" id="{05DFE307-ED1E-4268-A372-346F4FF4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8153400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1E6F3-6D28-4A0F-8144-CA76261E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Scope of the Project</a:t>
            </a:r>
          </a:p>
        </p:txBody>
      </p:sp>
      <p:sp>
        <p:nvSpPr>
          <p:cNvPr id="17" name="dot-0">
            <a:extLst xmlns:a="http://schemas.openxmlformats.org/drawingml/2006/main">
              <a:ext uri="{FF2B5EF4-FFF2-40B4-BE49-F238E27FC236}">
                <a16:creationId xmlns:a16="http://schemas.microsoft.com/office/drawing/2014/main" id="{C9A2E7A4-E03E-4420-A85A-4B25D053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2ADE2-890B-4868-935F-C1976CE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Uses synthetic retail scenarios for live demo.</a:t>
            </a:r>
          </a:p>
        </p:txBody>
      </p:sp>
      <p:sp>
        <p:nvSpPr>
          <p:cNvPr id="19" name="dot-1">
            <a:extLst xmlns:a="http://schemas.openxmlformats.org/drawingml/2006/main">
              <a:ext uri="{FF2B5EF4-FFF2-40B4-BE49-F238E27FC236}">
                <a16:creationId xmlns:a16="http://schemas.microsoft.com/office/drawing/2014/main" id="{D1C520A0-5CAD-4C36-9386-59AD3C54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991ED-F843-42A9-A84C-3F405EDF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Works with product, store, sales, price, and stock data.</a:t>
            </a:r>
          </a:p>
        </p:txBody>
      </p:sp>
      <p:sp>
        <p:nvSpPr>
          <p:cNvPr id="21" name="dot-2">
            <a:extLst xmlns:a="http://schemas.openxmlformats.org/drawingml/2006/main">
              <a:ext uri="{FF2B5EF4-FFF2-40B4-BE49-F238E27FC236}">
                <a16:creationId xmlns:a16="http://schemas.microsoft.com/office/drawing/2014/main" id="{2EB51A92-9347-4BDA-AF5F-4BE898A3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ABB66-B38C-4BB3-AD92-CDB2218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Runs multiple containerized services together.</a:t>
            </a:r>
          </a:p>
        </p:txBody>
      </p:sp>
      <p:sp>
        <p:nvSpPr>
          <p:cNvPr id="23" name="dot-3">
            <a:extLst xmlns:a="http://schemas.openxmlformats.org/drawingml/2006/main">
              <a:ext uri="{FF2B5EF4-FFF2-40B4-BE49-F238E27FC236}">
                <a16:creationId xmlns:a16="http://schemas.microsoft.com/office/drawing/2014/main" id="{E8D692EC-0499-47CD-A7DC-914EE8D1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151B6-5155-498B-85CA-5F618D6B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7372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Can be extended with real ERP or POS data later.</a:t>
            </a:r>
          </a:p>
        </p:txBody>
      </p:sp>
      <p:sp>
        <p:nvSpPr>
          <p:cNvPr id="2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1D603DB-B976-4CFE-83B0-358FF43F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582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Objective and scope kept simple for viva explanation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F865DB42-B01D-466B-96C7-0ED131DF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8582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36595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38644CE-D3F0-4EC2-8530-1CE744D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468D97FD-BF38-4D28-82AB-566D3CEC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47F73-7927-4D3F-A0EA-D69B532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381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System Architecture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BA7F42-6237-4E52-BEA0-9CF5F166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7600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The project is built as Docker microservices so every stage is separate and easy to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A4A62-7A8C-45FF-B8B8-652D448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1210"/>
            <a:ext cx="165354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5AD07-EDA5-4D53-8CD8-A528B2CF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1619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1628"/>
                </a:solidFill>
              </a:defRPr>
            </a:pPr>
            <a:r>
              <a:rPr sz="2100" b="1">
                <a:solidFill>
                  <a:srgbClr val="0A1628"/>
                </a:solidFill>
              </a:rPr>
              <a:t>Dashboard -&gt; Ingestion -&gt; Preprocessing -&gt;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798CC-9A1B-43E9-BDAD-79CD2016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5060"/>
            <a:ext cx="316992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36697-845C-4107-A9F1-E00F488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C"/>
                </a:solidFill>
              </a:defRPr>
            </a:pPr>
            <a:r>
              <a:rPr sz="1800" b="1">
                <a:solidFill>
                  <a:srgbClr val="10233C"/>
                </a:solidFill>
              </a:rPr>
              <a:t>Demand Forecast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B9F29-2430-48A9-AA47-C4C7CED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3655060"/>
            <a:ext cx="316992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D34A-28D3-4840-B969-3A790930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C"/>
                </a:solidFill>
              </a:defRPr>
            </a:pPr>
            <a:r>
              <a:rPr sz="1800" b="1">
                <a:solidFill>
                  <a:srgbClr val="10233C"/>
                </a:solidFill>
              </a:rPr>
              <a:t>Demand Anomaly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A90FB-86E7-4303-8AAE-63CB8C3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3655060"/>
            <a:ext cx="316992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A432F-37E2-43C6-B9B8-71058BB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C"/>
                </a:solidFill>
              </a:defRPr>
            </a:pPr>
            <a:r>
              <a:rPr sz="1800" b="1">
                <a:solidFill>
                  <a:srgbClr val="10233C"/>
                </a:solidFill>
              </a:rPr>
              <a:t>Stockout Risk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96B52-93F1-455C-9985-B287132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410" y="3655060"/>
            <a:ext cx="651129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FF8F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B486C-EA3A-4ED1-B0ED-571FDF5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29050"/>
            <a:ext cx="617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1628"/>
                </a:solidFill>
              </a:defRPr>
            </a:pPr>
            <a:r>
              <a:rPr sz="1950" b="1">
                <a:solidFill>
                  <a:srgbClr val="0A1628"/>
                </a:solidFill>
              </a:rPr>
              <a:t>Decision Hub + Agent Orchestrator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1B771-8D8E-413A-A607-4E739593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710"/>
            <a:ext cx="16535400" cy="179070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43BA0-7142-4508-9F04-73C117B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615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CD3"/>
                </a:solidFill>
              </a:defRPr>
            </a:pPr>
            <a:r>
              <a:rPr sz="1950" b="1">
                <a:solidFill>
                  <a:srgbClr val="175CD3"/>
                </a:solidFill>
              </a:rPr>
              <a:t>Simple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719AF-FB6E-49EC-ACBD-1798338D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0300"/>
            <a:ext cx="1615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274"/>
                </a:solidFill>
              </a:defRPr>
            </a:pPr>
            <a:r>
              <a:rPr sz="1500">
                <a:solidFill>
                  <a:srgbClr val="556274"/>
                </a:solidFill>
              </a:rPr>
              <a:t>1. Sales data enters and features are prepared.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C1000-E708-43C4-99E7-4B61E630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1615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274"/>
                </a:solidFill>
              </a:defRPr>
            </a:pPr>
            <a:r>
              <a:rPr sz="1500">
                <a:solidFill>
                  <a:srgbClr val="556274"/>
                </a:solidFill>
              </a:rPr>
              <a:t>2. ML models predict demand, anomaly, and stock risk.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27B48-A500-4570-9B5D-FE1C423D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1615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274"/>
                </a:solidFill>
              </a:defRPr>
            </a:pPr>
            <a:r>
              <a:rPr sz="1500">
                <a:solidFill>
                  <a:srgbClr val="556274"/>
                </a:solidFill>
              </a:rPr>
              <a:t>3. Agentic AI turns the outputs into one planner action.</a:t>
            </a:r>
          </a:p>
        </p:txBody>
      </p:sp>
      <p:sp>
        <p:nvSpPr>
          <p:cNvPr id="2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1F3315E5-643C-41D9-B35C-170F798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6290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Architecture slide for explaining service flow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F42A8E03-ED60-4D10-97D3-609F79B8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79629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30248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E0DE282-3826-4FB9-AD4E-8304D57E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0506AF8D-90CE-4072-9632-F047FD84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382CD1-79B8-4492-B924-1001412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512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Dataset and Input Features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7D902F-E52E-440E-B57C-9806E9C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657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The demo uses synthetic retail sales data that behaves like real planning data.</a:t>
            </a:r>
          </a:p>
        </p:txBody>
      </p:sp>
      <p:sp>
        <p:nvSpPr>
          <p:cNvPr id="5" name="input-fields">
            <a:extLst xmlns:a="http://schemas.openxmlformats.org/drawingml/2006/main">
              <a:ext uri="{FF2B5EF4-FFF2-40B4-BE49-F238E27FC236}">
                <a16:creationId xmlns:a16="http://schemas.microsoft.com/office/drawing/2014/main" id="{021D79C4-6A5C-4356-9352-08F873F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8162925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3335B-33D9-439E-814B-B9A36CC6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Input Fields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CE6B3ADE-0F0F-439A-8C72-2ED22F0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61DC0-98EF-46CD-8232-FB18EF98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Product ID and Store ID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F22FE175-FDB8-4E76-BE99-40E6A25F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26443-664F-49FB-8C19-D1454F13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Base price and discount percent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01086ECA-9961-40A8-ADAC-33E1CE3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C4F4E-9E92-4580-A5B2-A062FAB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Inventory units available</a:t>
            </a:r>
          </a:p>
        </p:txBody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76FF0141-56E4-42EA-BCE8-5891D3F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DC8BD-89D2-4BA8-8D0B-121D08B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Prior day and prior week sales</a:t>
            </a:r>
          </a:p>
        </p:txBody>
      </p:sp>
      <p:sp>
        <p:nvSpPr>
          <p:cNvPr id="15" name="dot-4">
            <a:extLst xmlns:a="http://schemas.openxmlformats.org/drawingml/2006/main">
              <a:ext uri="{FF2B5EF4-FFF2-40B4-BE49-F238E27FC236}">
                <a16:creationId xmlns:a16="http://schemas.microsoft.com/office/drawing/2014/main" id="{DC56EAD8-3D23-47D4-93DB-AE519F33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06D91-1AFB-4942-A06C-D7BE961F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Promotion flag and holiday flag</a:t>
            </a:r>
          </a:p>
        </p:txBody>
      </p:sp>
      <p:sp>
        <p:nvSpPr>
          <p:cNvPr id="17" name="dot-5">
            <a:extLst xmlns:a="http://schemas.openxmlformats.org/drawingml/2006/main">
              <a:ext uri="{FF2B5EF4-FFF2-40B4-BE49-F238E27FC236}">
                <a16:creationId xmlns:a16="http://schemas.microsoft.com/office/drawing/2014/main" id="{EFD444F5-A97F-4717-9C80-BED7EA11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0DD64-C4F1-4D97-9CD3-DCB9EAF9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Footfall index and lead time</a:t>
            </a:r>
          </a:p>
        </p:txBody>
      </p:sp>
      <p:sp>
        <p:nvSpPr>
          <p:cNvPr id="19" name="engineered-features">
            <a:extLst xmlns:a="http://schemas.openxmlformats.org/drawingml/2006/main">
              <a:ext uri="{FF2B5EF4-FFF2-40B4-BE49-F238E27FC236}">
                <a16:creationId xmlns:a16="http://schemas.microsoft.com/office/drawing/2014/main" id="{00AA171F-0AC1-4EB2-9447-A9D02081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24050"/>
            <a:ext cx="8162925" cy="6667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8753B-CA14-4A95-A34F-3A33589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Engineered Features</a:t>
            </a:r>
          </a:p>
        </p:txBody>
      </p:sp>
      <p:sp>
        <p:nvSpPr>
          <p:cNvPr id="21" name="dot-0">
            <a:extLst xmlns:a="http://schemas.openxmlformats.org/drawingml/2006/main">
              <a:ext uri="{FF2B5EF4-FFF2-40B4-BE49-F238E27FC236}">
                <a16:creationId xmlns:a16="http://schemas.microsoft.com/office/drawing/2014/main" id="{7961B0E8-55CC-408E-A9C3-B9D4BF80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9780D-6E58-42B5-98BD-6EA112B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Effective price</a:t>
            </a:r>
          </a:p>
        </p:txBody>
      </p:sp>
      <p:sp>
        <p:nvSpPr>
          <p:cNvPr id="23" name="dot-1">
            <a:extLst xmlns:a="http://schemas.openxmlformats.org/drawingml/2006/main">
              <a:ext uri="{FF2B5EF4-FFF2-40B4-BE49-F238E27FC236}">
                <a16:creationId xmlns:a16="http://schemas.microsoft.com/office/drawing/2014/main" id="{6F93D716-E5B8-4909-86D7-D61B0981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F1F56-4662-4B46-B8F3-7FC193FA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Daily and weekly sales velocity</a:t>
            </a:r>
          </a:p>
        </p:txBody>
      </p:sp>
      <p:sp>
        <p:nvSpPr>
          <p:cNvPr id="25" name="dot-2">
            <a:extLst xmlns:a="http://schemas.openxmlformats.org/drawingml/2006/main">
              <a:ext uri="{FF2B5EF4-FFF2-40B4-BE49-F238E27FC236}">
                <a16:creationId xmlns:a16="http://schemas.microsoft.com/office/drawing/2014/main" id="{E02112F5-FD62-4C10-8D54-78EBE323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A2263-6152-4CC9-A8B9-066F884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Stock cover days</a:t>
            </a:r>
          </a:p>
        </p:txBody>
      </p:sp>
      <p:sp>
        <p:nvSpPr>
          <p:cNvPr id="27" name="dot-3">
            <a:extLst xmlns:a="http://schemas.openxmlformats.org/drawingml/2006/main">
              <a:ext uri="{FF2B5EF4-FFF2-40B4-BE49-F238E27FC236}">
                <a16:creationId xmlns:a16="http://schemas.microsoft.com/office/drawing/2014/main" id="{B178F1D3-7656-4A9D-B62F-AAE26E27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5D2A6-FF41-44A9-A4C4-CF7C0D7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Demand pressure</a:t>
            </a:r>
          </a:p>
        </p:txBody>
      </p:sp>
      <p:sp>
        <p:nvSpPr>
          <p:cNvPr id="29" name="dot-4">
            <a:extLst xmlns:a="http://schemas.openxmlformats.org/drawingml/2006/main">
              <a:ext uri="{FF2B5EF4-FFF2-40B4-BE49-F238E27FC236}">
                <a16:creationId xmlns:a16="http://schemas.microsoft.com/office/drawing/2014/main" id="{576C0CF6-4A4F-4E9E-A9C6-98AD9D8A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CC7E61-7F18-4DA9-9CEE-4F4461AD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291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Promotion lift</a:t>
            </a:r>
          </a:p>
        </p:txBody>
      </p:sp>
      <p:sp>
        <p:nvSpPr>
          <p:cNvPr id="31" name="dot-5">
            <a:extLst xmlns:a="http://schemas.openxmlformats.org/drawingml/2006/main">
              <a:ext uri="{FF2B5EF4-FFF2-40B4-BE49-F238E27FC236}">
                <a16:creationId xmlns:a16="http://schemas.microsoft.com/office/drawing/2014/main" id="{F2761354-DDCC-4107-93DD-1118D82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AD71A-1DA3-4E17-922B-C0443ED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291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Replenishment gap</a:t>
            </a:r>
          </a:p>
        </p:txBody>
      </p:sp>
      <p:sp>
        <p:nvSpPr>
          <p:cNvPr id="3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2FDBB068-B65B-477A-8353-238FC6FA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582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Dataset explanation without technical overload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69C26CD9-025F-44E2-908A-B0ABCAC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8582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8565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3545E96-DCEE-4A64-8740-DF3EA6A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43A06115-FAA9-4ABC-9405-DDE1C8E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D07CB5-B54C-4138-A7F3-FA72F29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512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Models Used in the Project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326A22-44B9-4199-A41F-6D94294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5372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Different ML models are used for different retail planning tasks.</a:t>
            </a:r>
          </a:p>
        </p:txBody>
      </p:sp>
      <p:graphicFrame>
        <p:nvGraphicFramePr>
          <p:cNvPr id="5" name="models-chart"/>
          <p:cNvGraphicFramePr/>
          <p:nvPr/>
        </p:nvGraphicFramePr>
        <p:xfrm>
          <a:off xmlns:a="http://schemas.openxmlformats.org/drawingml/2006/main" x="876300" y="1847850"/>
          <a:ext xmlns:a="http://schemas.openxmlformats.org/drawingml/2006/main" cx="165354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715df9311e4f73"/>
          </a:graphicData>
        </a:graphic>
      </p:graphicFrame>
      <p:sp>
        <p:nvSpPr>
          <p:cNvPr id="6" name="random-forest-regressor">
            <a:extLst xmlns:a="http://schemas.openxmlformats.org/drawingml/2006/main">
              <a:ext uri="{FF2B5EF4-FFF2-40B4-BE49-F238E27FC236}">
                <a16:creationId xmlns:a16="http://schemas.microsoft.com/office/drawing/2014/main" id="{130578A1-5CA4-4F7B-A2C0-A60ED46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43E16-A721-4B46-9861-532106CD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43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Random Forest Regressor</a:t>
            </a:r>
          </a:p>
        </p:txBody>
      </p:sp>
      <p:sp>
        <p:nvSpPr>
          <p:cNvPr id="8" name="dot-0">
            <a:extLst xmlns:a="http://schemas.openxmlformats.org/drawingml/2006/main">
              <a:ext uri="{FF2B5EF4-FFF2-40B4-BE49-F238E27FC236}">
                <a16:creationId xmlns:a16="http://schemas.microsoft.com/office/drawing/2014/main" id="{49641EBF-581E-461F-A67C-15B51A18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19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01DC8-C4B5-419B-BC2D-CD27C8B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819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Used for short-term demand prediction.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C947DBE2-E45F-4466-A632-C33CDF69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00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CDD84-8EA1-43DB-835D-559480D4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200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Outputs expected units per day.</a:t>
            </a:r>
          </a:p>
        </p:txBody>
      </p:sp>
      <p:sp>
        <p:nvSpPr>
          <p:cNvPr id="12" name="logistic-regression">
            <a:extLst xmlns:a="http://schemas.openxmlformats.org/drawingml/2006/main">
              <a:ext uri="{FF2B5EF4-FFF2-40B4-BE49-F238E27FC236}">
                <a16:creationId xmlns:a16="http://schemas.microsoft.com/office/drawing/2014/main" id="{7E7C4BD4-D155-4A4C-9A50-929867D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6076950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6C1F5-4C73-47D7-86E2-20D5E4C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343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Logistic Regression</a:t>
            </a:r>
          </a:p>
        </p:txBody>
      </p:sp>
      <p:sp>
        <p:nvSpPr>
          <p:cNvPr id="14" name="dot-0">
            <a:extLst xmlns:a="http://schemas.openxmlformats.org/drawingml/2006/main">
              <a:ext uri="{FF2B5EF4-FFF2-40B4-BE49-F238E27FC236}">
                <a16:creationId xmlns:a16="http://schemas.microsoft.com/office/drawing/2014/main" id="{8EF52CB3-E63C-47D5-8063-AEBE0EE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819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BF401-7D27-40D2-9669-81BFE06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819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Used for stockout risk classification.</a:t>
            </a:r>
          </a:p>
        </p:txBody>
      </p:sp>
      <p:sp>
        <p:nvSpPr>
          <p:cNvPr id="16" name="dot-1">
            <a:extLst xmlns:a="http://schemas.openxmlformats.org/drawingml/2006/main">
              <a:ext uri="{FF2B5EF4-FFF2-40B4-BE49-F238E27FC236}">
                <a16:creationId xmlns:a16="http://schemas.microsoft.com/office/drawing/2014/main" id="{650F4BCD-A689-4288-8705-F22915E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200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98046-1951-492A-AB95-2791BFB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200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Outputs low, medium, or urgent risk behavior.</a:t>
            </a:r>
          </a:p>
        </p:txBody>
      </p:sp>
      <p:sp>
        <p:nvSpPr>
          <p:cNvPr id="18" name="isolation-forest">
            <a:extLst xmlns:a="http://schemas.openxmlformats.org/drawingml/2006/main">
              <a:ext uri="{FF2B5EF4-FFF2-40B4-BE49-F238E27FC236}">
                <a16:creationId xmlns:a16="http://schemas.microsoft.com/office/drawing/2014/main" id="{9EB0A261-84EC-444F-A010-AF93F19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6076950"/>
            <a:ext cx="53848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9E2F7-E31F-459E-8DBA-8A2B264A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436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Isolation Forest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3F5A4984-E9FD-47F1-AA52-7EEDAB6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19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DBD74-ADA7-4B6D-BE96-96855B3D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819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Used to detect unusual sales patterns.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0B959700-B50F-4C39-BD26-C99BBE3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00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42B74-48FE-4D56-983D-462B7A5D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7200900"/>
            <a:ext cx="4610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Helps identify abnormal spikes or drops.</a:t>
            </a:r>
          </a:p>
        </p:txBody>
      </p:sp>
      <p:sp>
        <p:nvSpPr>
          <p:cNvPr id="2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AEE86B1A-DA44-4928-94AF-853ADB3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8680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Models slide kept simple for easy presentation</a:t>
            </a:r>
          </a:p>
        </p:txBody>
      </p:sp>
      <p:sp>
        <p:nvSpPr>
          <p:cNvPr id="25" name="page">
            <a:extLst xmlns:a="http://schemas.openxmlformats.org/drawingml/2006/main">
              <a:ext uri="{FF2B5EF4-FFF2-40B4-BE49-F238E27FC236}">
                <a16:creationId xmlns:a16="http://schemas.microsoft.com/office/drawing/2014/main" id="{CBFD9062-E46E-4615-8ABE-556FB8D6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68680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361524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EE89324-086E-46D3-98FE-C3C63942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2E38E7B1-BEA8-442B-9EAD-BD495DA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21F21-24E8-4211-A50D-FB282D1F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Agentic AI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537434-7884-4830-B0C0-E47A4B19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6305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Agentic AI is used to convert model outputs into explainable retail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C780-9176-49D9-9299-5BD1DF2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1210"/>
            <a:ext cx="4005263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EBA01-B95D-4FB3-99DF-CEA2CE8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Demand Sensing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EA312-929B-46BB-B57C-657E84B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5CD3"/>
                </a:solidFill>
              </a:defRPr>
            </a:pPr>
            <a:r>
              <a:rPr sz="2550" b="1">
                <a:solidFill>
                  <a:srgbClr val="175CD3"/>
                </a:solidFill>
              </a:rPr>
              <a:t>Checks forecast 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DA39-DBEC-49FF-8FB1-F7EB90CB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2061210"/>
            <a:ext cx="4005263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D0166-6C2A-487D-8A41-648EF02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Inventory Guardian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D39B-653C-4D51-B7F9-99E046F2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97066"/>
                </a:solidFill>
              </a:defRPr>
            </a:pPr>
            <a:r>
              <a:rPr sz="2550" b="1">
                <a:solidFill>
                  <a:srgbClr val="F97066"/>
                </a:solidFill>
              </a:rPr>
              <a:t>Checks stock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DE37B-865B-4DF5-92BE-DB1FB7B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1210"/>
            <a:ext cx="4005263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45F7E-BE9B-430C-B3FF-3D535693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Merchandising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5EA7B-AEC2-44F9-847E-535DBADB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35433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B3A8"/>
                </a:solidFill>
              </a:defRPr>
            </a:pPr>
            <a:r>
              <a:rPr sz="2550" b="1">
                <a:solidFill>
                  <a:srgbClr val="12B3A8"/>
                </a:solidFill>
              </a:rPr>
              <a:t>Checks promotion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0C032-E66E-4781-89F5-32F47EA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2061210"/>
            <a:ext cx="4005263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57477-1869-4390-A4F0-B14C88D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28600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Supervisor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2BC42-130A-43FF-ACEB-54053C9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59080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546"/>
                </a:solidFill>
              </a:defRPr>
            </a:pPr>
            <a:r>
              <a:rPr sz="2550" b="1">
                <a:solidFill>
                  <a:srgbClr val="F5B546"/>
                </a:solidFill>
              </a:rPr>
              <a:t>Combines final plan</a:t>
            </a:r>
          </a:p>
        </p:txBody>
      </p:sp>
      <p:sp>
        <p:nvSpPr>
          <p:cNvPr id="17" name="how-agentic-ai-works">
            <a:extLst xmlns:a="http://schemas.openxmlformats.org/drawingml/2006/main">
              <a:ext uri="{FF2B5EF4-FFF2-40B4-BE49-F238E27FC236}">
                <a16:creationId xmlns:a16="http://schemas.microsoft.com/office/drawing/2014/main" id="{A3C8582B-81F7-450C-BA51-A5273F3B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0160"/>
            <a:ext cx="16535400" cy="416052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CEB2D-F5E3-4758-AEF8-53CF7E7F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How Agentic AI Works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BF189550-EA0E-4B51-84FD-0BC43D42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F6E9A-82D5-47C9-87D3-201EAFAD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29300"/>
            <a:ext cx="1575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Each specialist agent reads the ML outputs.</a:t>
            </a:r>
          </a:p>
        </p:txBody>
      </p:sp>
      <p:sp>
        <p:nvSpPr>
          <p:cNvPr id="21" name="dot-1">
            <a:extLst xmlns:a="http://schemas.openxmlformats.org/drawingml/2006/main">
              <a:ext uri="{FF2B5EF4-FFF2-40B4-BE49-F238E27FC236}">
                <a16:creationId xmlns:a16="http://schemas.microsoft.com/office/drawing/2014/main" id="{3DBD0146-6B27-4DBD-AA2A-3EB17987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29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D49B8-14FA-4585-8E20-DEE99FF7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29350"/>
            <a:ext cx="1575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Each agent gives its own conclusion and action.</a:t>
            </a:r>
          </a:p>
        </p:txBody>
      </p:sp>
      <p:sp>
        <p:nvSpPr>
          <p:cNvPr id="23" name="dot-2">
            <a:extLst xmlns:a="http://schemas.openxmlformats.org/drawingml/2006/main">
              <a:ext uri="{FF2B5EF4-FFF2-40B4-BE49-F238E27FC236}">
                <a16:creationId xmlns:a16="http://schemas.microsoft.com/office/drawing/2014/main" id="{E47AFD51-C15C-43BB-9994-7660D497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1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1B92E-E7CF-4F4E-BB54-8690D79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1575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The supervisor agent combines all suggestions.</a:t>
            </a:r>
          </a:p>
        </p:txBody>
      </p:sp>
      <p:sp>
        <p:nvSpPr>
          <p:cNvPr id="25" name="dot-3">
            <a:extLst xmlns:a="http://schemas.openxmlformats.org/drawingml/2006/main">
              <a:ext uri="{FF2B5EF4-FFF2-40B4-BE49-F238E27FC236}">
                <a16:creationId xmlns:a16="http://schemas.microsoft.com/office/drawing/2014/main" id="{972281B4-F717-4477-A48F-0420A70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10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684424-CE67-409F-B07C-477648F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010400"/>
            <a:ext cx="1575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The dashboard displays an easy final plan for planners.</a:t>
            </a:r>
          </a:p>
        </p:txBody>
      </p:sp>
      <p:sp>
        <p:nvSpPr>
          <p:cNvPr id="27" name="footer-text">
            <a:extLst xmlns:a="http://schemas.openxmlformats.org/drawingml/2006/main">
              <a:ext uri="{FF2B5EF4-FFF2-40B4-BE49-F238E27FC236}">
                <a16:creationId xmlns:a16="http://schemas.microsoft.com/office/drawing/2014/main" id="{2B1816E2-37B4-47EE-AA43-14425F1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Agentic AI layer explained in non-technical language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10A8418A-87B8-4813-8503-9B26B00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94297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00759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850AC73-4696-417D-9C28-8562D58F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408362DE-0C86-45C5-A647-8128F9B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8AC841-7B09-4C16-BA88-A599460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Demo Scenarios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DD721A-88C3-4B3C-9657-FEFF2CB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Four ready-made scenarios help demonstrate the project during viva or live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7517A-9D7B-48FC-A0EC-51A30E0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5540"/>
            <a:ext cx="4005263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AEB4B-CC45-46DB-A944-9873088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Steady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FBF7C-CB19-4D4E-8A9F-9744A2F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5CD3"/>
                </a:solidFill>
              </a:defRPr>
            </a:pPr>
            <a:r>
              <a:rPr sz="2550" b="1">
                <a:solidFill>
                  <a:srgbClr val="175CD3"/>
                </a:solidFill>
              </a:rPr>
              <a:t>52 units/day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443DB-F289-4351-A0A2-CE0BDF8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2415540"/>
            <a:ext cx="4005263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74BB0-AF50-45B4-8E4A-6746A9AF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Promo surge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447CC-358B-4838-BB85-4FFE23A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B3A8"/>
                </a:solidFill>
              </a:defRPr>
            </a:pPr>
            <a:r>
              <a:rPr sz="2550" b="1">
                <a:solidFill>
                  <a:srgbClr val="12B3A8"/>
                </a:solidFill>
              </a:rPr>
              <a:t>126 units/day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24E6F-C94F-499D-93F2-29CDB713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15540"/>
            <a:ext cx="4005263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87955-66F8-482A-B487-ECFE7EA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Festival peak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7119-D3F6-4D9E-B35B-1E5334F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546"/>
                </a:solidFill>
              </a:defRPr>
            </a:pPr>
            <a:r>
              <a:rPr sz="2550" b="1">
                <a:solidFill>
                  <a:srgbClr val="F5B546"/>
                </a:solidFill>
              </a:rPr>
              <a:t>164 units/day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59B5D-29CD-4C2A-A52C-1029AA68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438" y="2415540"/>
            <a:ext cx="4005263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33E3A-C095-45E4-BBAB-5ECD3E8E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64795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Inventory crunch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B821B-1494-47C9-B17D-9A6C6923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952750"/>
            <a:ext cx="3543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97066"/>
                </a:solidFill>
              </a:defRPr>
            </a:pPr>
            <a:r>
              <a:rPr sz="2550" b="1">
                <a:solidFill>
                  <a:srgbClr val="F97066"/>
                </a:solidFill>
              </a:rPr>
              <a:t>78 units/day</a:t>
            </a:r>
          </a:p>
        </p:txBody>
      </p:sp>
      <p:sp>
        <p:nvSpPr>
          <p:cNvPr id="17" name="steady-baseline">
            <a:extLst xmlns:a="http://schemas.openxmlformats.org/drawingml/2006/main">
              <a:ext uri="{FF2B5EF4-FFF2-40B4-BE49-F238E27FC236}">
                <a16:creationId xmlns:a16="http://schemas.microsoft.com/office/drawing/2014/main" id="{765FF5B6-BCF0-4E60-8819-F5A4818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4390"/>
            <a:ext cx="8181975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E940E-1A81-40D5-BC0E-53221044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Steady Baseline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3A4FFBCF-2386-424A-968B-7B354E65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317B2-BD99-47D7-9ED3-345A969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741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Normal weekday demand and healthy inventory.</a:t>
            </a:r>
          </a:p>
        </p:txBody>
      </p:sp>
      <p:sp>
        <p:nvSpPr>
          <p:cNvPr id="21" name="promo-surge">
            <a:extLst xmlns:a="http://schemas.openxmlformats.org/drawingml/2006/main">
              <a:ext uri="{FF2B5EF4-FFF2-40B4-BE49-F238E27FC236}">
                <a16:creationId xmlns:a16="http://schemas.microsoft.com/office/drawing/2014/main" id="{E6BCBD65-3696-44C6-B228-4F3A84C2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644390"/>
            <a:ext cx="8181975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F2ABC-533A-4760-B826-E054149B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149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Promo Surge</a:t>
            </a:r>
          </a:p>
        </p:txBody>
      </p:sp>
      <p:sp>
        <p:nvSpPr>
          <p:cNvPr id="23" name="dot-0">
            <a:extLst xmlns:a="http://schemas.openxmlformats.org/drawingml/2006/main">
              <a:ext uri="{FF2B5EF4-FFF2-40B4-BE49-F238E27FC236}">
                <a16:creationId xmlns:a16="http://schemas.microsoft.com/office/drawing/2014/main" id="{590C9AE4-3572-402F-A13C-687D39E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96DE96-DE0C-4DEA-8270-2642073C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91150"/>
            <a:ext cx="741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Promotion creates a fast increase in demand.</a:t>
            </a:r>
          </a:p>
        </p:txBody>
      </p:sp>
      <p:sp>
        <p:nvSpPr>
          <p:cNvPr id="25" name="festival-peak">
            <a:extLst xmlns:a="http://schemas.openxmlformats.org/drawingml/2006/main">
              <a:ext uri="{FF2B5EF4-FFF2-40B4-BE49-F238E27FC236}">
                <a16:creationId xmlns:a16="http://schemas.microsoft.com/office/drawing/2014/main" id="{64D2577A-6523-45DC-90CA-40C3F50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5490"/>
            <a:ext cx="8181975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4DFE7-22A0-4FED-86D5-9E88A28A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Festival Peak</a:t>
            </a:r>
          </a:p>
        </p:txBody>
      </p:sp>
      <p:sp>
        <p:nvSpPr>
          <p:cNvPr id="27" name="dot-0">
            <a:extLst xmlns:a="http://schemas.openxmlformats.org/drawingml/2006/main">
              <a:ext uri="{FF2B5EF4-FFF2-40B4-BE49-F238E27FC236}">
                <a16:creationId xmlns:a16="http://schemas.microsoft.com/office/drawing/2014/main" id="{75A6ABAE-9EC9-4561-A54B-55A48DCE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7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6D2C3B-D22D-47BD-B3D5-992CE5C4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572250"/>
            <a:ext cx="741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Holiday traffic pushes demand to a high level.</a:t>
            </a:r>
          </a:p>
        </p:txBody>
      </p:sp>
      <p:sp>
        <p:nvSpPr>
          <p:cNvPr id="29" name="inventory-crunch">
            <a:extLst xmlns:a="http://schemas.openxmlformats.org/drawingml/2006/main">
              <a:ext uri="{FF2B5EF4-FFF2-40B4-BE49-F238E27FC236}">
                <a16:creationId xmlns:a16="http://schemas.microsoft.com/office/drawing/2014/main" id="{FCB4082A-3881-4E41-A8C7-61716214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25490"/>
            <a:ext cx="8181975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9FB4A-1EA0-474A-97AF-2C23F07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0960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Inventory Crunch</a:t>
            </a:r>
          </a:p>
        </p:txBody>
      </p:sp>
      <p:sp>
        <p:nvSpPr>
          <p:cNvPr id="31" name="dot-0">
            <a:extLst xmlns:a="http://schemas.openxmlformats.org/drawingml/2006/main">
              <a:ext uri="{FF2B5EF4-FFF2-40B4-BE49-F238E27FC236}">
                <a16:creationId xmlns:a16="http://schemas.microsoft.com/office/drawing/2014/main" id="{14078560-DFE5-4537-98F5-8E0F5A03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7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CDEB5-F1C7-475B-81DA-1B74416B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0"/>
            <a:ext cx="741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Stock is low even though sales are still active.</a:t>
            </a:r>
          </a:p>
        </p:txBody>
      </p:sp>
      <p:sp>
        <p:nvSpPr>
          <p:cNvPr id="3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E60DF97-22EB-47CE-AE80-85A22B5F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675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Scenario slide supports live demonstration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635B3A24-3A7F-416B-94E0-D8546828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70675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9786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A5779B6-0B15-4E2A-B599-7C9E0DAC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BEAD221D-76BD-4E0D-91F3-E33C89B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5B1DA6-1BC5-414B-B8EB-D65E1CB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5753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Outputs and Business Benefits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BB9139-4BE9-492D-8862-1CBAEEE1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810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The system gives both prediction results and practical retail benefits.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B43ED-C8B3-4371-95FB-9C4015E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976688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993F1-9711-4162-A00A-4674DFA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Forecast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39316-0245-4163-AA46-2D4BC7E0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5CD3"/>
                </a:solidFill>
              </a:defRPr>
            </a:pPr>
            <a:r>
              <a:rPr sz="2550" b="1">
                <a:solidFill>
                  <a:srgbClr val="175CD3"/>
                </a:solidFill>
              </a:rPr>
              <a:t>Units/day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4D67A-012C-4C7A-92AB-366EAB16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38" y="2667000"/>
            <a:ext cx="3976688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E0811-70B1-4803-A298-EE02AE1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Risk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A0B6E-8AFA-4670-8C9F-D307C1F1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97066"/>
                </a:solidFill>
              </a:defRPr>
            </a:pPr>
            <a:r>
              <a:rPr sz="2550" b="1">
                <a:solidFill>
                  <a:srgbClr val="F97066"/>
                </a:solidFill>
              </a:rPr>
              <a:t>Stockout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8F6CF-F417-49C6-9E6E-AE90B1C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67000"/>
            <a:ext cx="3976688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D574B-A764-4708-AC52-D89F45EB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Agent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00626-2797-4D5E-A109-97E90F28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B3A8"/>
                </a:solidFill>
              </a:defRPr>
            </a:pPr>
            <a:r>
              <a:rPr sz="2550" b="1">
                <a:solidFill>
                  <a:srgbClr val="12B3A8"/>
                </a:solidFill>
              </a:rPr>
              <a:t>Planner next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C45B0-3813-4FDC-9597-CF4E124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2667000"/>
            <a:ext cx="3976688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75F9E-F29D-4077-A671-6B412BBA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8956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274"/>
                </a:solidFill>
              </a:defRPr>
            </a:pPr>
            <a:r>
              <a:rPr sz="1350">
                <a:solidFill>
                  <a:srgbClr val="556274"/>
                </a:solidFill>
              </a:rPr>
              <a:t>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708A2-B263-4F35-A60B-3943A813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20040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546"/>
                </a:solidFill>
              </a:defRPr>
            </a:pPr>
            <a:r>
              <a:rPr sz="2550" b="1">
                <a:solidFill>
                  <a:srgbClr val="F5B546"/>
                </a:solidFill>
              </a:rPr>
              <a:t>Docker containers</a:t>
            </a:r>
          </a:p>
        </p:txBody>
      </p:sp>
      <p:sp>
        <p:nvSpPr>
          <p:cNvPr id="17" name="system-outputs">
            <a:extLst xmlns:a="http://schemas.openxmlformats.org/drawingml/2006/main">
              <a:ext uri="{FF2B5EF4-FFF2-40B4-BE49-F238E27FC236}">
                <a16:creationId xmlns:a16="http://schemas.microsoft.com/office/drawing/2014/main" id="{0ED5171C-5773-4CAF-A64F-27A1A82F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162925" cy="3048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43DDE-8385-42D5-A6AA-57BFB14F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System Outputs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AF23750A-7D1F-4961-A374-068490E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0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36FC4-D633-4510-8CCD-81B5F61A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008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Demand forecast</a:t>
            </a:r>
          </a:p>
        </p:txBody>
      </p:sp>
      <p:sp>
        <p:nvSpPr>
          <p:cNvPr id="21" name="dot-1">
            <a:extLst xmlns:a="http://schemas.openxmlformats.org/drawingml/2006/main">
              <a:ext uri="{FF2B5EF4-FFF2-40B4-BE49-F238E27FC236}">
                <a16:creationId xmlns:a16="http://schemas.microsoft.com/office/drawing/2014/main" id="{4305484F-097F-4222-B923-865B1C02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8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D534E-EA04-43C7-A0AC-9B6B1AE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818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Anomaly alert</a:t>
            </a:r>
          </a:p>
        </p:txBody>
      </p:sp>
      <p:sp>
        <p:nvSpPr>
          <p:cNvPr id="23" name="dot-2">
            <a:extLst xmlns:a="http://schemas.openxmlformats.org/drawingml/2006/main">
              <a:ext uri="{FF2B5EF4-FFF2-40B4-BE49-F238E27FC236}">
                <a16:creationId xmlns:a16="http://schemas.microsoft.com/office/drawing/2014/main" id="{06EC8C22-5E7C-491E-9E37-758EF8BD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8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B8A4C-8B18-41BC-BDE5-3561DA0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818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Stockout risk</a:t>
            </a:r>
          </a:p>
        </p:txBody>
      </p:sp>
      <p:sp>
        <p:nvSpPr>
          <p:cNvPr id="25" name="dot-3">
            <a:extLst xmlns:a="http://schemas.openxmlformats.org/drawingml/2006/main">
              <a:ext uri="{FF2B5EF4-FFF2-40B4-BE49-F238E27FC236}">
                <a16:creationId xmlns:a16="http://schemas.microsoft.com/office/drawing/2014/main" id="{449744C7-593B-4AC5-B0B2-6D971A4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81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8F326-EA80-4ECC-ABAB-DD4431DE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5819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Agent action plan</a:t>
            </a:r>
          </a:p>
        </p:txBody>
      </p:sp>
      <p:sp>
        <p:nvSpPr>
          <p:cNvPr id="27" name="business-benefits">
            <a:extLst xmlns:a="http://schemas.openxmlformats.org/drawingml/2006/main">
              <a:ext uri="{FF2B5EF4-FFF2-40B4-BE49-F238E27FC236}">
                <a16:creationId xmlns:a16="http://schemas.microsoft.com/office/drawing/2014/main" id="{765FDF91-C9EE-4230-B5D4-B0A930AA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657850"/>
            <a:ext cx="8162925" cy="3048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FF8F3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C7D4B-F3C0-4B43-B20C-C4BDB85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245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Business Benefits</a:t>
            </a:r>
          </a:p>
        </p:txBody>
      </p:sp>
      <p:sp>
        <p:nvSpPr>
          <p:cNvPr id="29" name="dot-0">
            <a:extLst xmlns:a="http://schemas.openxmlformats.org/drawingml/2006/main">
              <a:ext uri="{FF2B5EF4-FFF2-40B4-BE49-F238E27FC236}">
                <a16:creationId xmlns:a16="http://schemas.microsoft.com/office/drawing/2014/main" id="{E774CAA2-3B41-40F4-9146-12AB7181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0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50B2F-3EC0-4E8E-86B6-F8DE585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008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Better inventory planning</a:t>
            </a:r>
          </a:p>
        </p:txBody>
      </p:sp>
      <p:sp>
        <p:nvSpPr>
          <p:cNvPr id="31" name="dot-1">
            <a:extLst xmlns:a="http://schemas.openxmlformats.org/drawingml/2006/main">
              <a:ext uri="{FF2B5EF4-FFF2-40B4-BE49-F238E27FC236}">
                <a16:creationId xmlns:a16="http://schemas.microsoft.com/office/drawing/2014/main" id="{36D75DBB-6B63-47BA-9329-2EAD1DB0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81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F6A04-D01B-4E8F-A7F5-CC81CF7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7818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Reduced stockout loss</a:t>
            </a:r>
          </a:p>
        </p:txBody>
      </p:sp>
      <p:sp>
        <p:nvSpPr>
          <p:cNvPr id="33" name="dot-2">
            <a:extLst xmlns:a="http://schemas.openxmlformats.org/drawingml/2006/main">
              <a:ext uri="{FF2B5EF4-FFF2-40B4-BE49-F238E27FC236}">
                <a16:creationId xmlns:a16="http://schemas.microsoft.com/office/drawing/2014/main" id="{300A9349-FCFE-4DE7-95D6-AF7B8E79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8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1213F1-EE6E-48D1-9613-1458654F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1818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Improved promotion control</a:t>
            </a:r>
          </a:p>
        </p:txBody>
      </p:sp>
      <p:sp>
        <p:nvSpPr>
          <p:cNvPr id="35" name="dot-3">
            <a:extLst xmlns:a="http://schemas.openxmlformats.org/drawingml/2006/main">
              <a:ext uri="{FF2B5EF4-FFF2-40B4-BE49-F238E27FC236}">
                <a16:creationId xmlns:a16="http://schemas.microsoft.com/office/drawing/2014/main" id="{9CAC6696-8829-4091-95A7-BE50476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581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C53C76-B7B6-43AB-8F20-18C7AC8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819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Easy decision support for planners</a:t>
            </a:r>
          </a:p>
        </p:txBody>
      </p:sp>
      <p:sp>
        <p:nvSpPr>
          <p:cNvPr id="37" name="footer-text">
            <a:extLst xmlns:a="http://schemas.openxmlformats.org/drawingml/2006/main">
              <a:ext uri="{FF2B5EF4-FFF2-40B4-BE49-F238E27FC236}">
                <a16:creationId xmlns:a16="http://schemas.microsoft.com/office/drawing/2014/main" id="{9E82C835-415E-4A3B-8536-245A13EB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344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Slide connects technical output to business value</a:t>
            </a:r>
          </a:p>
        </p:txBody>
      </p:sp>
      <p:sp>
        <p:nvSpPr>
          <p:cNvPr id="38" name="page">
            <a:extLst xmlns:a="http://schemas.openxmlformats.org/drawingml/2006/main">
              <a:ext uri="{FF2B5EF4-FFF2-40B4-BE49-F238E27FC236}">
                <a16:creationId xmlns:a16="http://schemas.microsoft.com/office/drawing/2014/main" id="{4B18491D-E8D8-4CA1-95C0-6538430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89344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183757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41CE68B-2471-406C-A02B-DD1FE24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</p:spPr>
      </p:sp>
      <p:sp>
        <p:nvSpPr>
          <p:cNvPr id="2" name="accent-top">
            <a:extLst xmlns:a="http://schemas.openxmlformats.org/drawingml/2006/main">
              <a:ext uri="{FF2B5EF4-FFF2-40B4-BE49-F238E27FC236}">
                <a16:creationId xmlns:a16="http://schemas.microsoft.com/office/drawing/2014/main" id="{665873DE-1643-4D24-89F7-1579D68C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EE83F9-C98D-4011-9AA9-73ADF1F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5467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C"/>
                </a:solidFill>
              </a:defRPr>
            </a:pPr>
            <a:r>
              <a:rPr sz="3600" b="1">
                <a:solidFill>
                  <a:srgbClr val="10233C"/>
                </a:solidFill>
              </a:rPr>
              <a:t>Conclusion and Future Scope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AAF5534-0B10-4DFD-B37B-F752653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830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6274"/>
                </a:solidFill>
              </a:defRPr>
            </a:pPr>
            <a:r>
              <a:rPr sz="1650">
                <a:solidFill>
                  <a:srgbClr val="556274"/>
                </a:solidFill>
              </a:rPr>
              <a:t>RetailPulse ML is a simple but industry-oriented project that combines ML, Docker, and agentic AI.</a:t>
            </a:r>
          </a:p>
        </p:txBody>
      </p:sp>
      <p:sp>
        <p:nvSpPr>
          <p:cNvPr id="5" name="conclusion">
            <a:extLst xmlns:a="http://schemas.openxmlformats.org/drawingml/2006/main">
              <a:ext uri="{FF2B5EF4-FFF2-40B4-BE49-F238E27FC236}">
                <a16:creationId xmlns:a16="http://schemas.microsoft.com/office/drawing/2014/main" id="{5E12ECFB-89DC-4AD5-AB88-4D87017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3640"/>
            <a:ext cx="8162925" cy="5810250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0E45-798E-432C-9A3D-A415502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Conclusion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84E673E4-2AC3-43F1-BAD1-1A8436D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15B70-85A5-4B7E-8FAE-1E3BBC6C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The project predicts demand in an easy-to-understand way.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ABB83261-11A4-4F62-A212-2B41F734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2A118-51B4-40CF-AB2B-C8B7A28A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It separates services using Docker.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B57A996A-5D2B-4377-AFFE-1B3851B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2B45C-E75D-4FE8-B0DA-5DFF954A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It adds an agentic layer for decision support.</a:t>
            </a:r>
          </a:p>
        </p:txBody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C982174C-1951-4D5B-BA8E-3586F7F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36322-71A5-4AC4-9434-14BEB361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It is suitable for academic demo and industry explanation.</a:t>
            </a:r>
          </a:p>
        </p:txBody>
      </p:sp>
      <p:sp>
        <p:nvSpPr>
          <p:cNvPr id="15" name="future-scope">
            <a:extLst xmlns:a="http://schemas.openxmlformats.org/drawingml/2006/main">
              <a:ext uri="{FF2B5EF4-FFF2-40B4-BE49-F238E27FC236}">
                <a16:creationId xmlns:a16="http://schemas.microsoft.com/office/drawing/2014/main" id="{C1929222-3A5D-4E6E-8948-63A7CF4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53640"/>
            <a:ext cx="8162925" cy="5810250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69668-9F6B-4E4E-8C75-1EB3253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7639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33C"/>
                </a:solidFill>
              </a:defRPr>
            </a:pPr>
            <a:r>
              <a:rPr sz="2100" b="1">
                <a:solidFill>
                  <a:srgbClr val="10233C"/>
                </a:solidFill>
              </a:rPr>
              <a:t>Future Scope</a:t>
            </a:r>
          </a:p>
        </p:txBody>
      </p:sp>
      <p:sp>
        <p:nvSpPr>
          <p:cNvPr id="17" name="dot-0">
            <a:extLst xmlns:a="http://schemas.openxmlformats.org/drawingml/2006/main">
              <a:ext uri="{FF2B5EF4-FFF2-40B4-BE49-F238E27FC236}">
                <a16:creationId xmlns:a16="http://schemas.microsoft.com/office/drawing/2014/main" id="{D3BE9D9C-60C4-4572-BD1F-9A72EDC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C5379-CC99-4705-B1EC-5952211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04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Connect with real retail or ERP data.</a:t>
            </a:r>
          </a:p>
        </p:txBody>
      </p:sp>
      <p:sp>
        <p:nvSpPr>
          <p:cNvPr id="19" name="dot-1">
            <a:extLst xmlns:a="http://schemas.openxmlformats.org/drawingml/2006/main">
              <a:ext uri="{FF2B5EF4-FFF2-40B4-BE49-F238E27FC236}">
                <a16:creationId xmlns:a16="http://schemas.microsoft.com/office/drawing/2014/main" id="{023FFC2F-AE7E-4473-BA8C-031DA018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B4E8F-61C9-4428-A645-27B41AA6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8140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Add a database and login system.</a:t>
            </a:r>
          </a:p>
        </p:txBody>
      </p:sp>
      <p:sp>
        <p:nvSpPr>
          <p:cNvPr id="21" name="dot-2">
            <a:extLst xmlns:a="http://schemas.openxmlformats.org/drawingml/2006/main">
              <a:ext uri="{FF2B5EF4-FFF2-40B4-BE49-F238E27FC236}">
                <a16:creationId xmlns:a16="http://schemas.microsoft.com/office/drawing/2014/main" id="{3F31C107-07D5-4F20-A87F-EFDB53E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70EA6-B566-4403-8117-F007FB90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814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Use real LLM agents for smarter planning.</a:t>
            </a:r>
          </a:p>
        </p:txBody>
      </p:sp>
      <p:sp>
        <p:nvSpPr>
          <p:cNvPr id="23" name="dot-3">
            <a:extLst xmlns:a="http://schemas.openxmlformats.org/drawingml/2006/main">
              <a:ext uri="{FF2B5EF4-FFF2-40B4-BE49-F238E27FC236}">
                <a16:creationId xmlns:a16="http://schemas.microsoft.com/office/drawing/2014/main" id="{24A004C9-CCBB-48F1-A4BC-A6B161D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7DB85-FCE9-4CB5-83D1-A49615E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62450"/>
            <a:ext cx="739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6274"/>
                </a:solidFill>
              </a:defRPr>
            </a:pPr>
            <a:r>
              <a:rPr sz="1575">
                <a:solidFill>
                  <a:srgbClr val="556274"/>
                </a:solidFill>
              </a:rPr>
              <a:t>Deploy to cloud for multi-store use.</a:t>
            </a:r>
          </a:p>
        </p:txBody>
      </p:sp>
      <p:sp>
        <p:nvSpPr>
          <p:cNvPr id="25" name="thanks">
            <a:extLst xmlns:a="http://schemas.openxmlformats.org/drawingml/2006/main">
              <a:ext uri="{FF2B5EF4-FFF2-40B4-BE49-F238E27FC236}">
                <a16:creationId xmlns:a16="http://schemas.microsoft.com/office/drawing/2014/main" id="{7AD88A9A-E535-4AE4-958D-51A75412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34400"/>
            <a:ext cx="1653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5CD3"/>
                </a:solidFill>
              </a:defRPr>
            </a:pPr>
            <a:r>
              <a:rPr sz="2700" b="1">
                <a:solidFill>
                  <a:srgbClr val="175CD3"/>
                </a:solidFill>
              </a:rPr>
              <a:t>Thank You</a:t>
            </a:r>
          </a:p>
        </p:txBody>
      </p:sp>
      <p:sp>
        <p:nvSpPr>
          <p:cNvPr id="2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38539B9-2A9D-4108-9D4B-ADBB014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01150"/>
            <a:ext cx="1619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Final slide for closing the presentation</a:t>
            </a:r>
          </a:p>
        </p:txBody>
      </p:sp>
      <p:sp>
        <p:nvSpPr>
          <p:cNvPr id="27" name="page">
            <a:extLst xmlns:a="http://schemas.openxmlformats.org/drawingml/2006/main">
              <a:ext uri="{FF2B5EF4-FFF2-40B4-BE49-F238E27FC236}">
                <a16:creationId xmlns:a16="http://schemas.microsoft.com/office/drawing/2014/main" id="{EAFC6534-1633-450C-94E3-EB404EA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9201150"/>
            <a:ext cx="22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6274"/>
                </a:solidFill>
              </a:defRPr>
            </a:pPr>
            <a:r>
              <a:rPr sz="1050">
                <a:solidFill>
                  <a:srgbClr val="5562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271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2026-05-12T01:32:54.1390000Z</dcterms:created>
  <dcterms:modified xsi:type="dcterms:W3CDTF">2026-05-12T01:32:54.1390000Z</dcterms:modified>
</coreProperties>
</file>